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76" r:id="rId6"/>
    <p:sldId id="275" r:id="rId7"/>
    <p:sldId id="294" r:id="rId8"/>
    <p:sldId id="295" r:id="rId9"/>
    <p:sldId id="297" r:id="rId10"/>
    <p:sldId id="284" r:id="rId11"/>
    <p:sldId id="283" r:id="rId12"/>
    <p:sldId id="278" r:id="rId13"/>
    <p:sldId id="296" r:id="rId14"/>
    <p:sldId id="293" r:id="rId15"/>
    <p:sldId id="298" r:id="rId16"/>
    <p:sldId id="288" r:id="rId17"/>
    <p:sldId id="28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5634"/>
  </p:normalViewPr>
  <p:slideViewPr>
    <p:cSldViewPr snapToGrid="0" showGuides="1">
      <p:cViewPr>
        <p:scale>
          <a:sx n="75" d="100"/>
          <a:sy n="75" d="100"/>
        </p:scale>
        <p:origin x="38" y="14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ARIMA</c:v>
                </c:pt>
                <c:pt idx="1">
                  <c:v>SARIMA</c:v>
                </c:pt>
                <c:pt idx="2">
                  <c:v>XGBOOST</c:v>
                </c:pt>
                <c:pt idx="3">
                  <c:v>LSTM</c:v>
                </c:pt>
                <c:pt idx="4">
                  <c:v>PROPHET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8.56</c:v>
                </c:pt>
                <c:pt idx="1">
                  <c:v>8.5299999999999994</c:v>
                </c:pt>
                <c:pt idx="2">
                  <c:v>8.3699999999999992</c:v>
                </c:pt>
                <c:pt idx="3">
                  <c:v>1.48</c:v>
                </c:pt>
                <c:pt idx="4">
                  <c:v>6.34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74-43DF-85DD-F0A10967E8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chemeClr val="accent6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ARIMA</c:v>
                </c:pt>
                <c:pt idx="1">
                  <c:v>SARIMA</c:v>
                </c:pt>
                <c:pt idx="2">
                  <c:v>XGBOOST</c:v>
                </c:pt>
                <c:pt idx="3">
                  <c:v>LSTM</c:v>
                </c:pt>
                <c:pt idx="4">
                  <c:v>PROPHET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6.38</c:v>
                </c:pt>
                <c:pt idx="1">
                  <c:v>6.34</c:v>
                </c:pt>
                <c:pt idx="2">
                  <c:v>5.71</c:v>
                </c:pt>
                <c:pt idx="3">
                  <c:v>1.24</c:v>
                </c:pt>
                <c:pt idx="4">
                  <c:v>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74-43DF-85DD-F0A10967E8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8477584"/>
        <c:axId val="1238481520"/>
      </c:barChart>
      <c:catAx>
        <c:axId val="123847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238481520"/>
        <c:crosses val="autoZero"/>
        <c:auto val="1"/>
        <c:lblAlgn val="ctr"/>
        <c:lblOffset val="100"/>
        <c:noMultiLvlLbl val="0"/>
      </c:catAx>
      <c:valAx>
        <c:axId val="1238481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47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BB7B-9541-BC61-065E-8FDAC3AA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3A58B-E7E2-0398-7C9E-6B045CB94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42903-598F-D751-6B9A-BE0A061FD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F703D-C768-6A53-2EA4-9EE82190E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3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2064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8AE1-8207-8F21-87A8-FBD351B9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9E0A4-30A8-E2B8-11E0-213B6731E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09262-DFDD-5533-7FB7-DD52FDA01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71B61-2238-B0CD-991A-083B5527A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7462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3D02-06C0-B29B-C621-757F33CE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1638C-5743-996E-579A-49F214551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9AF2-7CF0-C355-FE78-818787B22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53AE0-BD96-4D13-7AD6-FD7AC7184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9962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83" y="2005913"/>
            <a:ext cx="6025914" cy="20574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51864" y="4333229"/>
            <a:ext cx="2054936" cy="7061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Mahesh Mangali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04" y="1152308"/>
            <a:ext cx="511716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2" y="3203836"/>
            <a:ext cx="5395480" cy="1294530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time-series forecasting model to predict Apple’s stock price for the next 30 days.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5266" y="0"/>
            <a:ext cx="5626734" cy="68580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52" y="733547"/>
            <a:ext cx="4253399" cy="1740114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Agenda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75472" y="1076241"/>
            <a:ext cx="1904890" cy="10547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and Data Preprocessing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Evaluation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264" y="814059"/>
            <a:ext cx="4518122" cy="577237"/>
          </a:xfrm>
        </p:spPr>
        <p:txBody>
          <a:bodyPr/>
          <a:lstStyle/>
          <a:p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Overview: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94550" y="2357732"/>
            <a:ext cx="4672693" cy="1404039"/>
          </a:xfrm>
        </p:spPr>
        <p:txBody>
          <a:bodyPr/>
          <a:lstStyle/>
          <a:p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Open, High, Low, Close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  <a:endParaRPr lang="en-US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altLang="zh-CN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E6EA0DE-6714-C1D0-C04C-DBD83E051685}"/>
              </a:ext>
            </a:extLst>
          </p:cNvPr>
          <p:cNvSpPr txBox="1">
            <a:spLocks/>
          </p:cNvSpPr>
          <p:nvPr/>
        </p:nvSpPr>
        <p:spPr>
          <a:xfrm>
            <a:off x="9446930" y="972157"/>
            <a:ext cx="3121187" cy="4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Period :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2019 - 2025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E245BE7-AA3C-1EE2-C01D-D89545AFE15B}"/>
              </a:ext>
            </a:extLst>
          </p:cNvPr>
          <p:cNvSpPr txBox="1">
            <a:spLocks/>
          </p:cNvSpPr>
          <p:nvPr/>
        </p:nvSpPr>
        <p:spPr>
          <a:xfrm>
            <a:off x="5517264" y="4138842"/>
            <a:ext cx="4672693" cy="14040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Characteristics: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frequency time-series data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 and trend patterns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CF1C34-7F87-EBC5-88C6-66B61EB021C9}"/>
              </a:ext>
            </a:extLst>
          </p:cNvPr>
          <p:cNvSpPr txBox="1">
            <a:spLocks/>
          </p:cNvSpPr>
          <p:nvPr/>
        </p:nvSpPr>
        <p:spPr>
          <a:xfrm>
            <a:off x="5517264" y="1655712"/>
            <a:ext cx="5490260" cy="4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Yahoo Finance (AAPL stock)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778F28-4147-CB84-CF4E-0DB9EE36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843" y="2104840"/>
            <a:ext cx="357632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BFCCE0B1-9535-3377-9514-8A19A77686DE}"/>
              </a:ext>
            </a:extLst>
          </p:cNvPr>
          <p:cNvSpPr txBox="1"/>
          <p:nvPr/>
        </p:nvSpPr>
        <p:spPr>
          <a:xfrm>
            <a:off x="5362936" y="324090"/>
            <a:ext cx="6829064" cy="7694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Exploratory Data Analysis</a:t>
            </a:r>
            <a:endParaRPr lang="en-IN" sz="4400" b="1" dirty="0">
              <a:solidFill>
                <a:schemeClr val="tx2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CC58FA-C6EB-E3A1-02E8-308A9D22790B}"/>
              </a:ext>
            </a:extLst>
          </p:cNvPr>
          <p:cNvSpPr txBox="1"/>
          <p:nvPr/>
        </p:nvSpPr>
        <p:spPr>
          <a:xfrm>
            <a:off x="5590572" y="1365248"/>
            <a:ext cx="6094070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Performed: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plots for close price trend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decomposition (trend, seasonality, residuals)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and quarterly resampling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using IQR method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Stationarity check using ADF test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upward trend with short-term volatility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Non-stationary behavior in raw close prices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C946A44-F3B9-1AF5-365F-B07853E9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54907" cy="3429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2847635-7CB2-710F-F2EB-AED46F32B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28999"/>
            <a:ext cx="5254907" cy="343807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D7B3D38-9115-B65B-2999-3F39E19E3A07}"/>
              </a:ext>
            </a:extLst>
          </p:cNvPr>
          <p:cNvSpPr txBox="1"/>
          <p:nvPr/>
        </p:nvSpPr>
        <p:spPr>
          <a:xfrm>
            <a:off x="935736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AD2D-FDA1-909D-8766-12C2A129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1A1E9A-2D0A-AD0B-0687-D1C7959C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23" y="168712"/>
            <a:ext cx="5042057" cy="13062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244F943E-0F45-2635-C90B-70D7454FB0D8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7078823" y="502432"/>
            <a:ext cx="4405503" cy="5066346"/>
          </a:xfrm>
        </p:spPr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70EAC8AD-E078-2C95-5C45-AAA7FD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DCF5E9-160C-0107-8A06-31DFF8E9370B}"/>
              </a:ext>
            </a:extLst>
          </p:cNvPr>
          <p:cNvCxnSpPr>
            <a:cxnSpLocks/>
          </p:cNvCxnSpPr>
          <p:nvPr/>
        </p:nvCxnSpPr>
        <p:spPr>
          <a:xfrm>
            <a:off x="1509395" y="4173855"/>
            <a:ext cx="0" cy="7600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53FBA23-B397-DAD0-6796-B03E5CCEC167}"/>
              </a:ext>
            </a:extLst>
          </p:cNvPr>
          <p:cNvSpPr txBox="1"/>
          <p:nvPr/>
        </p:nvSpPr>
        <p:spPr>
          <a:xfrm>
            <a:off x="322423" y="1538165"/>
            <a:ext cx="5397657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Applied: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column to datetime index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 forward fill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Differenced close price to achieve stationarity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infinite and null values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stationary dataset suitable for modeling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0671A6-EA5D-DEAE-75D9-DC29D1BFEB0D}"/>
              </a:ext>
            </a:extLst>
          </p:cNvPr>
          <p:cNvSpPr txBox="1"/>
          <p:nvPr/>
        </p:nvSpPr>
        <p:spPr>
          <a:xfrm>
            <a:off x="0" y="648866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273759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70003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: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14044" y="1905097"/>
            <a:ext cx="2530033" cy="866219"/>
          </a:xfrm>
          <a:solidFill>
            <a:schemeClr val="accent4"/>
          </a:solidFill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115046" y="3137243"/>
            <a:ext cx="2529031" cy="1179544"/>
          </a:xfrm>
          <a:solidFill>
            <a:schemeClr val="accent4"/>
          </a:solidFill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Indicators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114044" y="4754225"/>
            <a:ext cx="2529031" cy="1030201"/>
          </a:xfrm>
          <a:solidFill>
            <a:schemeClr val="accent4"/>
          </a:solidFill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Features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altLang="zh-C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5EAF4C7-DF73-888E-5CE1-E65A1FC55F6D}"/>
              </a:ext>
            </a:extLst>
          </p:cNvPr>
          <p:cNvSpPr>
            <a:spLocks noGrp="1" noChangeArrowheads="1"/>
          </p:cNvSpPr>
          <p:nvPr>
            <p:ph type="body" sz="quarter" idx="32"/>
          </p:nvPr>
        </p:nvSpPr>
        <p:spPr bwMode="auto">
          <a:xfrm>
            <a:off x="4250803" y="1849239"/>
            <a:ext cx="411480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Lag features (1, 2, 3, 5, 7, 14, 21 days)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Rolling means and moving averages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04186231-331E-0485-D36C-11F1BF77E04D}"/>
              </a:ext>
            </a:extLst>
          </p:cNvPr>
          <p:cNvSpPr>
            <a:spLocks noGrp="1" noChangeArrowheads="1"/>
          </p:cNvSpPr>
          <p:nvPr>
            <p:ph type="body" sz="quarter" idx="51"/>
          </p:nvPr>
        </p:nvSpPr>
        <p:spPr bwMode="auto">
          <a:xfrm>
            <a:off x="4251325" y="4810696"/>
            <a:ext cx="3411116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 of week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Month-end indicator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E518E4C4-2854-39A6-DCB3-11864B8B3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803" y="3082480"/>
            <a:ext cx="5220184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RSI (14), MACD, MACD Signal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Bollinger Bands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Exponential Moving Averages (EMA 9, 21, 50)</a:t>
            </a:r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1E3F7726-AC85-55B8-BDED-51E7BA85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0" y="333741"/>
            <a:ext cx="5611368" cy="102679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pic>
        <p:nvPicPr>
          <p:cNvPr id="8" name="Picture Placeholder 7" descr="Businesswoman reviewing sticky notes on a wall">
            <a:extLst>
              <a:ext uri="{FF2B5EF4-FFF2-40B4-BE49-F238E27FC236}">
                <a16:creationId xmlns:a16="http://schemas.microsoft.com/office/drawing/2014/main" id="{66D3A5E9-F687-402F-8477-EE4CD418CA67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Text Placeholder">
            <a:extLst>
              <a:ext uri="{FF2B5EF4-FFF2-40B4-BE49-F238E27FC236}">
                <a16:creationId xmlns:a16="http://schemas.microsoft.com/office/drawing/2014/main" id="{0490F6D4-84D0-42DF-A807-E56706B57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  <a:p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99E3B6AA-5679-428D-B466-0173CBC557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(Statistical models)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Placeholder 9" descr="People working in office">
            <a:extLst>
              <a:ext uri="{FF2B5EF4-FFF2-40B4-BE49-F238E27FC236}">
                <a16:creationId xmlns:a16="http://schemas.microsoft.com/office/drawing/2014/main" id="{D249D9CF-86A2-4E7B-8B6F-D02EE968C997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">
            <a:extLst>
              <a:ext uri="{FF2B5EF4-FFF2-40B4-BE49-F238E27FC236}">
                <a16:creationId xmlns:a16="http://schemas.microsoft.com/office/drawing/2014/main" id="{3A30B02E-FBE1-41C5-AF6E-E1013275E8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</a:p>
          <a:p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6BEF3457-28AE-41BA-B285-C77561919C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(Statistical models)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Placeholder 11" descr="Layout of website design sketches on white paper">
            <a:extLst>
              <a:ext uri="{FF2B5EF4-FFF2-40B4-BE49-F238E27FC236}">
                <a16:creationId xmlns:a16="http://schemas.microsoft.com/office/drawing/2014/main" id="{3D51D04D-653C-45AE-9DDF-BE96BA267A6B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9" name="Text Placeholder">
            <a:extLst>
              <a:ext uri="{FF2B5EF4-FFF2-40B4-BE49-F238E27FC236}">
                <a16:creationId xmlns:a16="http://schemas.microsoft.com/office/drawing/2014/main" id="{1B558BFC-AA9F-4991-A6BB-D56BEC07C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17095E6E-F279-4342-B53E-E53B820336B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(Machine Learning)</a:t>
            </a:r>
          </a:p>
        </p:txBody>
      </p:sp>
      <p:pic>
        <p:nvPicPr>
          <p:cNvPr id="14" name="Picture Placeholder 13" descr="Empty office chairs">
            <a:extLst>
              <a:ext uri="{FF2B5EF4-FFF2-40B4-BE49-F238E27FC236}">
                <a16:creationId xmlns:a16="http://schemas.microsoft.com/office/drawing/2014/main" id="{33C59A08-3A06-4556-AC83-C1337E73D0B3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61472" y="2073439"/>
            <a:ext cx="1621032" cy="1841551"/>
          </a:xfrm>
        </p:spPr>
      </p:pic>
      <p:sp>
        <p:nvSpPr>
          <p:cNvPr id="41" name="Text Placeholder">
            <a:extLst>
              <a:ext uri="{FF2B5EF4-FFF2-40B4-BE49-F238E27FC236}">
                <a16:creationId xmlns:a16="http://schemas.microsoft.com/office/drawing/2014/main" id="{DBA8686B-D3EF-40DF-939C-F875885DD59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  <a:p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6BF979FF-A4F0-4625-889A-AB985F98B2D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(Deep Learning)</a:t>
            </a:r>
          </a:p>
        </p:txBody>
      </p:sp>
      <p:pic>
        <p:nvPicPr>
          <p:cNvPr id="90" name="Picture Placeholder 89" descr="People around a table on their laptops">
            <a:extLst>
              <a:ext uri="{FF2B5EF4-FFF2-40B4-BE49-F238E27FC236}">
                <a16:creationId xmlns:a16="http://schemas.microsoft.com/office/drawing/2014/main" id="{241F4F4E-4DAB-34E3-D036-85F0CB76A536}"/>
              </a:ext>
            </a:extLst>
          </p:cNvPr>
          <p:cNvPicPr>
            <a:picLocks noGrp="1" noChangeAspect="1"/>
          </p:cNvPicPr>
          <p:nvPr>
            <p:ph type="pic" sz="quarter" idx="6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3" name="Text Placeholder">
            <a:extLst>
              <a:ext uri="{FF2B5EF4-FFF2-40B4-BE49-F238E27FC236}">
                <a16:creationId xmlns:a16="http://schemas.microsoft.com/office/drawing/2014/main" id="{759A333C-6D37-427A-BE2A-4C2660134A5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4E9BE8F8-2FF1-43CB-B1AA-4F07E411D17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535923" y="5007731"/>
            <a:ext cx="2116838" cy="811178"/>
          </a:xfrm>
        </p:spPr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(Time – Serie Forecasting)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A9C9-8185-D0AB-3C76-BC1CABABA354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DED-0D81-19D6-DF40-E6B4B5BFEF9E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3B605-8337-8924-8F21-D96ACF19AC4F}"/>
              </a:ext>
            </a:extLst>
          </p:cNvPr>
          <p:cNvSpPr txBox="1"/>
          <p:nvPr/>
        </p:nvSpPr>
        <p:spPr>
          <a:xfrm>
            <a:off x="7723333" y="5659715"/>
            <a:ext cx="39840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Squared Error)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579C5-FC9F-BFAD-66A8-5CE0CB378638}"/>
              </a:ext>
            </a:extLst>
          </p:cNvPr>
          <p:cNvSpPr txBox="1"/>
          <p:nvPr/>
        </p:nvSpPr>
        <p:spPr>
          <a:xfrm>
            <a:off x="5455920" y="650240"/>
            <a:ext cx="4287520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Time-based train-test split (80% / 20%)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4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Performances :</a:t>
            </a:r>
          </a:p>
        </p:txBody>
      </p:sp>
      <p:graphicFrame>
        <p:nvGraphicFramePr>
          <p:cNvPr id="14" name="Chart Placeholder 13" descr="Bar chart">
            <a:extLst>
              <a:ext uri="{FF2B5EF4-FFF2-40B4-BE49-F238E27FC236}">
                <a16:creationId xmlns:a16="http://schemas.microsoft.com/office/drawing/2014/main" id="{B7C287C2-FD80-40E0-BEEE-ABC91A81663B}"/>
              </a:ext>
            </a:extLst>
          </p:cNvPr>
          <p:cNvGraphicFramePr>
            <a:graphicFrameLocks noGrp="1"/>
          </p:cNvGraphicFramePr>
          <p:nvPr>
            <p:ph type="chart" sz="quarter" idx="27"/>
            <p:extLst>
              <p:ext uri="{D42A27DB-BD31-4B8C-83A1-F6EECF244321}">
                <p14:modId xmlns:p14="http://schemas.microsoft.com/office/powerpoint/2010/main" val="3570557340"/>
              </p:ext>
            </p:extLst>
          </p:nvPr>
        </p:nvGraphicFramePr>
        <p:xfrm>
          <a:off x="587375" y="1622425"/>
          <a:ext cx="10890250" cy="4483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A1A50-9014-5306-C688-3D8D006283A0}"/>
              </a:ext>
            </a:extLst>
          </p:cNvPr>
          <p:cNvSpPr txBox="1"/>
          <p:nvPr/>
        </p:nvSpPr>
        <p:spPr>
          <a:xfrm>
            <a:off x="6248400" y="9584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achieved the lowest error values among all models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82E2-C90E-52BB-EAAB-6AC04BB7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43235C-1893-C596-DF65-DFB24677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264" y="381964"/>
            <a:ext cx="5676905" cy="110026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(Best Model)</a:t>
            </a:r>
            <a:endParaRPr lang="en-US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98D548-61E8-69D9-9EAF-E43343426AD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17264" y="1808986"/>
            <a:ext cx="4672693" cy="1982774"/>
          </a:xfrm>
        </p:spPr>
        <p:txBody>
          <a:bodyPr/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Parameters for LSTM: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units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LSTM layers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B040A-9A98-D5F9-5806-211C7A5CD475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  <a:endParaRPr lang="en-US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F1BE5-2C08-CBB3-20A8-7710DC3010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altLang="zh-CN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4285133-A447-BA36-B7CB-3E2E52556F5D}"/>
              </a:ext>
            </a:extLst>
          </p:cNvPr>
          <p:cNvSpPr txBox="1">
            <a:spLocks/>
          </p:cNvSpPr>
          <p:nvPr/>
        </p:nvSpPr>
        <p:spPr>
          <a:xfrm>
            <a:off x="5517264" y="4118522"/>
            <a:ext cx="4672693" cy="185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 over multiple combinations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configuration based on minimum RMSE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24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766" y="721103"/>
            <a:ext cx="3730788" cy="8288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: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ADEBA14-035C-9827-1BA1-74495DE71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6766" y="1891688"/>
            <a:ext cx="12134127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trained LSTM model (.h5)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prediction pipeline for scaling and forecasting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Flask &amp;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public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138F9-3D61-E272-C4BC-0301DA10D5C8}"/>
              </a:ext>
            </a:extLst>
          </p:cNvPr>
          <p:cNvSpPr txBox="1"/>
          <p:nvPr/>
        </p:nvSpPr>
        <p:spPr>
          <a:xfrm>
            <a:off x="0" y="6581001"/>
            <a:ext cx="8239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A29E-B51D-9D30-8BF9-2CF559D4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A920EC-67A1-E493-F3F0-AE8E2CF0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84" y="274955"/>
            <a:ext cx="4114800" cy="8020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BF10A-130C-EB36-4F8E-63841EC38C76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D86C1-672C-8A83-8CCE-82DA027B493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0BDD7E1-ECE7-42BD-E1D5-CAD95F938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85" y="1076960"/>
            <a:ext cx="11554075" cy="484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12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11561"/>
            <a:ext cx="5119580" cy="69753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:</a:t>
            </a:r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title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D16BD-9239-970E-5210-E7CE3FBE7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87" y="1517277"/>
            <a:ext cx="7022786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Achieving stationarity in time-series data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leakage in ML models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for deep learning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configuration and environment setup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C7A577BF-729F-23A1-1D0D-CD72EB3AC9A6}"/>
              </a:ext>
            </a:extLst>
          </p:cNvPr>
          <p:cNvSpPr txBox="1">
            <a:spLocks/>
          </p:cNvSpPr>
          <p:nvPr/>
        </p:nvSpPr>
        <p:spPr>
          <a:xfrm>
            <a:off x="266787" y="3769754"/>
            <a:ext cx="6237478" cy="6975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42E56F-9CD3-4C00-7B5B-E85AD7D69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32" y="4675470"/>
            <a:ext cx="441960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with auto-retraining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streaming</a:t>
            </a:r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737" y="2103437"/>
            <a:ext cx="5055698" cy="1325563"/>
          </a:xfrm>
        </p:spPr>
        <p:txBody>
          <a:bodyPr/>
          <a:lstStyle/>
          <a:p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Thank you…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" name="Graphic 2" descr="Grinning face with solid fill with solid fill">
            <a:extLst>
              <a:ext uri="{FF2B5EF4-FFF2-40B4-BE49-F238E27FC236}">
                <a16:creationId xmlns:a16="http://schemas.microsoft.com/office/drawing/2014/main" id="{F2E912C5-A006-E8A3-B6B1-7CC303303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1336" y="2615878"/>
            <a:ext cx="813122" cy="8131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54E8FF-50C6-A7E2-E9AD-ED72BFCAF447}"/>
              </a:ext>
            </a:extLst>
          </p:cNvPr>
          <p:cNvSpPr txBox="1"/>
          <p:nvPr/>
        </p:nvSpPr>
        <p:spPr>
          <a:xfrm>
            <a:off x="-10160" y="6461642"/>
            <a:ext cx="610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138</TotalTime>
  <Words>504</Words>
  <Application>Microsoft Office PowerPoint</Application>
  <PresentationFormat>Widescreen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等线</vt:lpstr>
      <vt:lpstr>Abadi</vt:lpstr>
      <vt:lpstr>Algerian</vt:lpstr>
      <vt:lpstr>Arial</vt:lpstr>
      <vt:lpstr>Calibri</vt:lpstr>
      <vt:lpstr>Posterama</vt:lpstr>
      <vt:lpstr>Posterama Text Black</vt:lpstr>
      <vt:lpstr>Posterama Text SemiBold</vt:lpstr>
      <vt:lpstr>Times New Roman</vt:lpstr>
      <vt:lpstr>Wingdings</vt:lpstr>
      <vt:lpstr>Custom​​</vt:lpstr>
      <vt:lpstr>Stock Price Forecasting Using Time Series</vt:lpstr>
      <vt:lpstr>Project Overview:</vt:lpstr>
      <vt:lpstr> Agenda </vt:lpstr>
      <vt:lpstr>Dataset  Overview:</vt:lpstr>
      <vt:lpstr>PowerPoint Presentation</vt:lpstr>
      <vt:lpstr>Data Preprocessing</vt:lpstr>
      <vt:lpstr>Feature Engineering :</vt:lpstr>
      <vt:lpstr>Model Building</vt:lpstr>
      <vt:lpstr>Model Performances :</vt:lpstr>
      <vt:lpstr>Hyperparameter Tuning (Best Model)</vt:lpstr>
      <vt:lpstr>Deployment :</vt:lpstr>
      <vt:lpstr>Final Output</vt:lpstr>
      <vt:lpstr>Challenges Faced :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mangali</dc:creator>
  <cp:lastModifiedBy>mahesh mangali</cp:lastModifiedBy>
  <cp:revision>1</cp:revision>
  <dcterms:created xsi:type="dcterms:W3CDTF">2025-12-19T09:24:30Z</dcterms:created>
  <dcterms:modified xsi:type="dcterms:W3CDTF">2025-12-19T11:43:04Z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